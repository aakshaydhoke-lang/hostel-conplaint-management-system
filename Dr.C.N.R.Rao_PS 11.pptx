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Droid Serif" panose="020B0604020202020204" charset="0"/>
      <p:regular r:id="rId9"/>
    </p:embeddedFont>
    <p:embeddedFont>
      <p:font typeface="Droid Serif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shaydhoke2006@gmail.com" userId="cfa1803ba0df80ec" providerId="LiveId" clId="{66639DA6-F5DF-40AC-BC88-A5FFEF6CBAEA}"/>
    <pc:docChg chg="delSld modSld">
      <pc:chgData name="aakshaydhoke2006@gmail.com" userId="cfa1803ba0df80ec" providerId="LiveId" clId="{66639DA6-F5DF-40AC-BC88-A5FFEF6CBAEA}" dt="2026-02-01T05:56:26.035" v="92" actId="20577"/>
      <pc:docMkLst>
        <pc:docMk/>
      </pc:docMkLst>
      <pc:sldChg chg="modSp mod">
        <pc:chgData name="aakshaydhoke2006@gmail.com" userId="cfa1803ba0df80ec" providerId="LiveId" clId="{66639DA6-F5DF-40AC-BC88-A5FFEF6CBAEA}" dt="2026-02-01T05:56:26.035" v="92" actId="20577"/>
        <pc:sldMkLst>
          <pc:docMk/>
          <pc:sldMk cId="0" sldId="256"/>
        </pc:sldMkLst>
        <pc:spChg chg="mod">
          <ac:chgData name="aakshaydhoke2006@gmail.com" userId="cfa1803ba0df80ec" providerId="LiveId" clId="{66639DA6-F5DF-40AC-BC88-A5FFEF6CBAEA}" dt="2026-02-01T05:56:00.104" v="64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akshaydhoke2006@gmail.com" userId="cfa1803ba0df80ec" providerId="LiveId" clId="{66639DA6-F5DF-40AC-BC88-A5FFEF6CBAEA}" dt="2026-02-01T05:56:26.035" v="92" actId="20577"/>
          <ac:spMkLst>
            <pc:docMk/>
            <pc:sldMk cId="0" sldId="256"/>
            <ac:spMk id="12" creationId="{00000000-0000-0000-0000-000000000000}"/>
          </ac:spMkLst>
        </pc:spChg>
      </pc:sldChg>
      <pc:sldChg chg="del">
        <pc:chgData name="aakshaydhoke2006@gmail.com" userId="cfa1803ba0df80ec" providerId="LiveId" clId="{66639DA6-F5DF-40AC-BC88-A5FFEF6CBAEA}" dt="2026-02-01T05:55:10.674" v="0" actId="2696"/>
        <pc:sldMkLst>
          <pc:docMk/>
          <pc:sldMk cId="0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HYUDAYA_Hackathon_Template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4"/>
            <a:ext cx="18288000" cy="913977"/>
            <a:chOff x="0" y="0"/>
            <a:chExt cx="4816593" cy="24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40718"/>
            </a:xfrm>
            <a:custGeom>
              <a:avLst/>
              <a:gdLst/>
              <a:ahLst/>
              <a:cxnLst/>
              <a:rect l="l" t="t" r="r" b="b"/>
              <a:pathLst>
                <a:path w="4816592" h="240718">
                  <a:moveTo>
                    <a:pt x="0" y="0"/>
                  </a:moveTo>
                  <a:lnTo>
                    <a:pt x="4816592" y="0"/>
                  </a:lnTo>
                  <a:lnTo>
                    <a:pt x="4816592" y="240718"/>
                  </a:lnTo>
                  <a:lnTo>
                    <a:pt x="0" y="240718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88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854867"/>
            <a:ext cx="18258239" cy="432133"/>
            <a:chOff x="0" y="0"/>
            <a:chExt cx="4808754" cy="1138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08754" cy="113813"/>
            </a:xfrm>
            <a:custGeom>
              <a:avLst/>
              <a:gdLst/>
              <a:ahLst/>
              <a:cxnLst/>
              <a:rect l="l" t="t" r="r" b="b"/>
              <a:pathLst>
                <a:path w="4808754" h="113813">
                  <a:moveTo>
                    <a:pt x="0" y="0"/>
                  </a:moveTo>
                  <a:lnTo>
                    <a:pt x="4808754" y="0"/>
                  </a:lnTo>
                  <a:lnTo>
                    <a:pt x="4808754" y="113813"/>
                  </a:lnTo>
                  <a:lnTo>
                    <a:pt x="0" y="113813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08754" cy="170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89091" y="4390231"/>
            <a:ext cx="16641709" cy="2632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2800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[</a:t>
            </a:r>
            <a:r>
              <a:rPr lang="en-US" sz="3200" dirty="0"/>
              <a:t>Hostel Complaint &amp; Maintenance Tracking System (Student-Warden Portal) :</a:t>
            </a:r>
          </a:p>
          <a:p>
            <a:pPr>
              <a:lnSpc>
                <a:spcPts val="2879"/>
              </a:lnSpc>
            </a:pPr>
            <a:r>
              <a:rPr lang="en-US" sz="2400" dirty="0"/>
              <a:t>Build a web-based system to manage hostel-related complaints and maintenance requests in a structured and transparent way. Students should be able to raise complaints (e.g., plumbing, electricity, cleanliness, internet, room issues), track their status, and provide feedback after resolution. Wardens/maintenance teams should be able to view and manage all complaints, prioritize them, assign tasks to staff, and monitor pending or overdue issues. The platform must support a clear workflow for complaint handling (e.g., Submitted → Assigned → In Progress → Resolved/Closed), enable priority-based handling (Low/Medium/High), and provide basic analytics to help hostel administration identify recurring issues, resolution time patterns, and backlog/overdue trends.</a:t>
            </a:r>
            <a:r>
              <a:rPr lang="en-US" sz="3200" dirty="0"/>
              <a:t> </a:t>
            </a:r>
            <a:r>
              <a:rPr lang="en-US" sz="2800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0440" y="7610817"/>
            <a:ext cx="12583007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2800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[</a:t>
            </a:r>
            <a:r>
              <a:rPr lang="en-US" sz="2400" dirty="0"/>
              <a:t>A comprehensive, web-based Hostel Complaint &amp; Maintenance Tracking System featuring role-based dashboards, real-time messaging, transparent complaint tracking, and detailed analytics to streamline hostel maintenance operations and improve student satisfaction.</a:t>
            </a:r>
            <a:r>
              <a:rPr lang="en-US" sz="2800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53538" y="116020"/>
            <a:ext cx="265022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Title Slide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47344" y="1186558"/>
            <a:ext cx="11363550" cy="532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5"/>
              </a:lnSpc>
              <a:spcBef>
                <a:spcPct val="0"/>
              </a:spcBef>
            </a:pPr>
            <a:r>
              <a:rPr lang="en-US" sz="3210" b="1" dirty="0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Project Name: </a:t>
            </a:r>
            <a:r>
              <a:rPr lang="en-US" sz="3210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[Hostel Complaint Management System]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10542" y="1861331"/>
            <a:ext cx="6220186" cy="527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085" b="1" dirty="0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Team Name:</a:t>
            </a:r>
            <a:r>
              <a:rPr lang="en-US" sz="3085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[</a:t>
            </a:r>
            <a:r>
              <a:rPr lang="en-US" sz="3085" dirty="0" err="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Dr.C.N.Rao</a:t>
            </a:r>
            <a:r>
              <a:rPr lang="en-US" sz="3085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9091" y="3830037"/>
            <a:ext cx="484370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Problem Statement Overview 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0440" y="7116526"/>
            <a:ext cx="3334563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Solution Overview: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5645" y="9917358"/>
            <a:ext cx="1044990" cy="26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440" y="3193647"/>
            <a:ext cx="1438363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Problem Statement ID:</a:t>
            </a:r>
            <a:r>
              <a:rPr lang="en-US" sz="2400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[PS 11	]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243115" y="4448594"/>
            <a:ext cx="7801769" cy="1592866"/>
            <a:chOff x="0" y="0"/>
            <a:chExt cx="9142044" cy="18665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2095" cy="1866519"/>
            </a:xfrm>
            <a:custGeom>
              <a:avLst/>
              <a:gdLst/>
              <a:ahLst/>
              <a:cxnLst/>
              <a:rect l="l" t="t" r="r" b="b"/>
              <a:pathLst>
                <a:path w="9142095" h="1866519">
                  <a:moveTo>
                    <a:pt x="0" y="0"/>
                  </a:moveTo>
                  <a:lnTo>
                    <a:pt x="9142095" y="0"/>
                  </a:lnTo>
                  <a:lnTo>
                    <a:pt x="9142095" y="1866519"/>
                  </a:lnTo>
                  <a:lnTo>
                    <a:pt x="0" y="1866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</a:blip>
              <a:stretch>
                <a:fillRect l="-3640" t="-91752" r="-7747" b="-11504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4"/>
            <a:ext cx="18288000" cy="913977"/>
            <a:chOff x="0" y="0"/>
            <a:chExt cx="4816593" cy="24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40718"/>
            </a:xfrm>
            <a:custGeom>
              <a:avLst/>
              <a:gdLst/>
              <a:ahLst/>
              <a:cxnLst/>
              <a:rect l="l" t="t" r="r" b="b"/>
              <a:pathLst>
                <a:path w="4816592" h="240718">
                  <a:moveTo>
                    <a:pt x="0" y="0"/>
                  </a:moveTo>
                  <a:lnTo>
                    <a:pt x="4816592" y="0"/>
                  </a:lnTo>
                  <a:lnTo>
                    <a:pt x="4816592" y="240718"/>
                  </a:lnTo>
                  <a:lnTo>
                    <a:pt x="0" y="240718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88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854867"/>
            <a:ext cx="18258239" cy="432133"/>
            <a:chOff x="0" y="0"/>
            <a:chExt cx="4808754" cy="1138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08754" cy="113813"/>
            </a:xfrm>
            <a:custGeom>
              <a:avLst/>
              <a:gdLst/>
              <a:ahLst/>
              <a:cxnLst/>
              <a:rect l="l" t="t" r="r" b="b"/>
              <a:pathLst>
                <a:path w="4808754" h="113813">
                  <a:moveTo>
                    <a:pt x="0" y="0"/>
                  </a:moveTo>
                  <a:lnTo>
                    <a:pt x="4808754" y="0"/>
                  </a:lnTo>
                  <a:lnTo>
                    <a:pt x="4808754" y="113813"/>
                  </a:lnTo>
                  <a:lnTo>
                    <a:pt x="0" y="113813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08754" cy="170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1287247"/>
            <a:ext cx="16230600" cy="8063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Proposed Solution</a:t>
            </a:r>
            <a:r>
              <a:rPr lang="en-US" sz="2400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br>
              <a:rPr lang="en-US" sz="2400" dirty="0"/>
            </a:br>
            <a:r>
              <a:rPr lang="en-US" sz="2800" dirty="0"/>
              <a:t>• A modern, responsive web application with separate portals for students and wardens</a:t>
            </a:r>
            <a:br>
              <a:rPr lang="en-US" sz="3600" dirty="0"/>
            </a:br>
            <a:r>
              <a:rPr lang="en-US" sz="2800" dirty="0"/>
              <a:t>• Structured complaint workflow with real-time status tracking and priority management</a:t>
            </a:r>
            <a:br>
              <a:rPr lang="en-US" sz="3600" dirty="0"/>
            </a:br>
            <a:r>
              <a:rPr lang="en-US" sz="2800" dirty="0"/>
              <a:t>• Integrated messaging system for transparent communication between students and staff</a:t>
            </a:r>
            <a:br>
              <a:rPr lang="en-US" sz="3600" dirty="0"/>
            </a:br>
            <a:r>
              <a:rPr lang="en-US" sz="2800" dirty="0"/>
              <a:t>• Analytics dashboard for identifying patterns and improving response times</a:t>
            </a:r>
            <a:br>
              <a:rPr lang="en-US" sz="3600" dirty="0"/>
            </a:br>
            <a:r>
              <a:rPr lang="en-US" sz="2800" dirty="0"/>
              <a:t>• Minimalist design with intuitive user interface for ease of use</a:t>
            </a:r>
          </a:p>
          <a:p>
            <a:endParaRPr lang="en-US" sz="2400" dirty="0">
              <a:solidFill>
                <a:srgbClr val="000000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r>
              <a:rPr lang="en-US" sz="3600" b="1" dirty="0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• </a:t>
            </a:r>
            <a:r>
              <a:rPr lang="en-US" sz="2800" dirty="0"/>
              <a:t>The system provides students with a platform to submit complaints across multiple categories (plumbing, electricity, cleanliness, internet, room issues) with priority levels and location details. Each complaint follows a structured workflow: Submitted → Assigned → In Progress → Resolved → Closed. Wardens can assign complaints to maintenance staff, update statuses, and monitor progress. The integrated messaging system allows direct communication about specific complaints, ensuring transparency and quick resolution. </a:t>
            </a:r>
            <a:r>
              <a:rPr lang="en-US" sz="2400" dirty="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• How it addresses the problem </a:t>
            </a:r>
          </a:p>
          <a:p>
            <a:endParaRPr lang="en-US" sz="2400" dirty="0">
              <a:solidFill>
                <a:srgbClr val="000000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r>
              <a:rPr lang="en-US" sz="2800" dirty="0"/>
              <a:t>• </a:t>
            </a:r>
            <a:r>
              <a:rPr lang="en-US" sz="2800" b="1" dirty="0"/>
              <a:t>Real-time Messaging:</a:t>
            </a:r>
            <a:r>
              <a:rPr lang="en-US" sz="2800" dirty="0"/>
              <a:t> Integrated chat system specific to each complaint</a:t>
            </a:r>
            <a:br>
              <a:rPr lang="en-US" sz="3600" dirty="0"/>
            </a:br>
            <a:r>
              <a:rPr lang="en-US" sz="2800" dirty="0"/>
              <a:t>• </a:t>
            </a:r>
            <a:r>
              <a:rPr lang="en-US" sz="2800" b="1" dirty="0"/>
              <a:t>Local Storage Database:</a:t>
            </a:r>
            <a:r>
              <a:rPr lang="en-US" sz="2800" dirty="0"/>
              <a:t> No backend server required, easily deployable</a:t>
            </a:r>
            <a:br>
              <a:rPr lang="en-US" sz="3600" dirty="0"/>
            </a:br>
            <a:r>
              <a:rPr lang="en-US" sz="2800" dirty="0"/>
              <a:t>• </a:t>
            </a:r>
            <a:r>
              <a:rPr lang="en-US" sz="2800" b="1" dirty="0"/>
              <a:t>Comprehensive Analytics:</a:t>
            </a:r>
            <a:r>
              <a:rPr lang="en-US" sz="2800" dirty="0"/>
              <a:t> Visual charts for category distribution, resolution times, and trends</a:t>
            </a:r>
            <a:br>
              <a:rPr lang="en-US" sz="3600" dirty="0"/>
            </a:br>
            <a:r>
              <a:rPr lang="en-US" sz="2800" dirty="0"/>
              <a:t>• </a:t>
            </a:r>
            <a:r>
              <a:rPr lang="en-US" sz="2800" b="1" dirty="0"/>
              <a:t>Role-Based Views:</a:t>
            </a:r>
            <a:r>
              <a:rPr lang="en-US" sz="2800" dirty="0"/>
              <a:t> Customized interfaces for students, wardens, and maintenance staff</a:t>
            </a:r>
            <a:br>
              <a:rPr lang="en-US" sz="3600" dirty="0"/>
            </a:br>
            <a:r>
              <a:rPr lang="en-US" sz="2800" dirty="0"/>
              <a:t>• </a:t>
            </a:r>
            <a:r>
              <a:rPr lang="en-US" sz="2800" b="1" dirty="0"/>
              <a:t>Offline Capability:</a:t>
            </a:r>
            <a:r>
              <a:rPr lang="en-US" sz="2800" dirty="0"/>
              <a:t> Works without continuous internet connection</a:t>
            </a:r>
            <a:endParaRPr lang="en-US" sz="3600" dirty="0">
              <a:solidFill>
                <a:srgbClr val="000000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75645" y="9917358"/>
            <a:ext cx="1044990" cy="26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243115" y="4448594"/>
            <a:ext cx="7801769" cy="1592866"/>
            <a:chOff x="0" y="0"/>
            <a:chExt cx="9142044" cy="18665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2095" cy="1866519"/>
            </a:xfrm>
            <a:custGeom>
              <a:avLst/>
              <a:gdLst/>
              <a:ahLst/>
              <a:cxnLst/>
              <a:rect l="l" t="t" r="r" b="b"/>
              <a:pathLst>
                <a:path w="9142095" h="1866519">
                  <a:moveTo>
                    <a:pt x="0" y="0"/>
                  </a:moveTo>
                  <a:lnTo>
                    <a:pt x="9142095" y="0"/>
                  </a:lnTo>
                  <a:lnTo>
                    <a:pt x="9142095" y="1866519"/>
                  </a:lnTo>
                  <a:lnTo>
                    <a:pt x="0" y="1866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</a:blip>
              <a:stretch>
                <a:fillRect l="-3640" t="-91752" r="-7747" b="-115047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364717" y="116020"/>
            <a:ext cx="3711836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Solution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7815" y="1250719"/>
            <a:ext cx="86106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/>
              <a:t>Technologies to be used:</a:t>
            </a:r>
            <a:br>
              <a:rPr lang="en-IN" sz="2000" dirty="0"/>
            </a:br>
            <a:r>
              <a:rPr lang="en-IN" sz="2000" dirty="0"/>
              <a:t>• </a:t>
            </a:r>
            <a:r>
              <a:rPr lang="en-IN" sz="2000" b="1" dirty="0"/>
              <a:t>Frontend:</a:t>
            </a:r>
            <a:r>
              <a:rPr lang="en-IN" sz="2000" dirty="0"/>
              <a:t> HTML5, CSS3, JavaScript (Vanilla)</a:t>
            </a:r>
            <a:br>
              <a:rPr lang="en-IN" sz="2000" dirty="0"/>
            </a:br>
            <a:r>
              <a:rPr lang="en-IN" sz="2000" dirty="0"/>
              <a:t>• </a:t>
            </a:r>
            <a:r>
              <a:rPr lang="en-IN" sz="2000" b="1" dirty="0"/>
              <a:t>Charts &amp; Visualization:</a:t>
            </a:r>
            <a:r>
              <a:rPr lang="en-IN" sz="2000" dirty="0"/>
              <a:t> Chart.js for analytics</a:t>
            </a:r>
            <a:br>
              <a:rPr lang="en-IN" sz="2000" dirty="0"/>
            </a:br>
            <a:r>
              <a:rPr lang="en-IN" sz="2000" dirty="0"/>
              <a:t>• </a:t>
            </a:r>
            <a:r>
              <a:rPr lang="en-IN" sz="2000" b="1" dirty="0"/>
              <a:t>Icons &amp; UI:</a:t>
            </a:r>
            <a:r>
              <a:rPr lang="en-IN" sz="2000" dirty="0"/>
              <a:t> Font Awesome for icons</a:t>
            </a:r>
            <a:br>
              <a:rPr lang="en-IN" sz="2000" dirty="0"/>
            </a:br>
            <a:r>
              <a:rPr lang="en-IN" sz="2000" dirty="0"/>
              <a:t>• </a:t>
            </a:r>
            <a:r>
              <a:rPr lang="en-IN" sz="2000" b="1" dirty="0"/>
              <a:t>Database:</a:t>
            </a:r>
            <a:r>
              <a:rPr lang="en-IN" sz="2000" dirty="0"/>
              <a:t> </a:t>
            </a:r>
            <a:r>
              <a:rPr lang="en-IN" sz="2000" dirty="0" err="1"/>
              <a:t>LocalStorage</a:t>
            </a:r>
            <a:r>
              <a:rPr lang="en-IN" sz="2000" dirty="0"/>
              <a:t>/</a:t>
            </a:r>
            <a:r>
              <a:rPr lang="en-IN" sz="2000" dirty="0" err="1"/>
              <a:t>IndexedDB</a:t>
            </a:r>
            <a:r>
              <a:rPr lang="en-IN" sz="2000" dirty="0"/>
              <a:t> for client-side data storage</a:t>
            </a:r>
            <a:br>
              <a:rPr lang="en-IN" sz="2000" dirty="0"/>
            </a:br>
            <a:r>
              <a:rPr lang="en-IN" sz="2000" dirty="0"/>
              <a:t>• </a:t>
            </a:r>
            <a:r>
              <a:rPr lang="en-IN" sz="2000" b="1" dirty="0"/>
              <a:t>Deployment:</a:t>
            </a:r>
            <a:r>
              <a:rPr lang="en-IN" sz="2000" dirty="0"/>
              <a:t> Any static web hosting (GitHub Pages, Netlify, </a:t>
            </a:r>
            <a:r>
              <a:rPr lang="en-IN" sz="2000" dirty="0" err="1"/>
              <a:t>Vercel</a:t>
            </a:r>
            <a:r>
              <a:rPr lang="en-IN" sz="2000" dirty="0"/>
              <a:t>)</a:t>
            </a:r>
            <a:br>
              <a:rPr lang="en-IN" sz="2000" dirty="0"/>
            </a:br>
            <a:r>
              <a:rPr lang="en-IN" sz="2000" dirty="0"/>
              <a:t>• </a:t>
            </a:r>
            <a:r>
              <a:rPr lang="en-IN" sz="2000" b="1" dirty="0"/>
              <a:t>Version Control:</a:t>
            </a:r>
            <a:r>
              <a:rPr lang="en-IN" sz="2000" dirty="0"/>
              <a:t> Git for collaboration</a:t>
            </a:r>
            <a:endParaRPr lang="en-US" sz="2000" dirty="0">
              <a:solidFill>
                <a:srgbClr val="000000"/>
              </a:solidFill>
              <a:latin typeface="Canva Sans"/>
              <a:sym typeface="Canva Sans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b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</a:br>
            <a:r>
              <a:rPr lang="en-IN" sz="2000" b="1" dirty="0"/>
              <a:t>Methodology and process for implementation:</a:t>
            </a: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System Architecture:</a:t>
            </a:r>
            <a:endParaRPr lang="en-IN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User Authentication Layer:</a:t>
            </a:r>
            <a:r>
              <a:rPr lang="en-IN" sz="2000" dirty="0"/>
              <a:t> Role-based login (Student/Warden/Staff)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Data Management Layer:</a:t>
            </a:r>
            <a:r>
              <a:rPr lang="en-IN" sz="2000" dirty="0"/>
              <a:t> </a:t>
            </a:r>
            <a:r>
              <a:rPr lang="en-IN" sz="2000" dirty="0" err="1"/>
              <a:t>LocalStorage</a:t>
            </a:r>
            <a:r>
              <a:rPr lang="en-IN" sz="2000" dirty="0"/>
              <a:t> with JSON structure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Application Layer:</a:t>
            </a:r>
            <a:r>
              <a:rPr lang="en-IN" sz="2000" dirty="0"/>
              <a:t> Separate HTML pages for each functionality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Presentation Layer:</a:t>
            </a:r>
            <a:r>
              <a:rPr lang="en-IN" sz="2000" dirty="0"/>
              <a:t> Responsive CSS with modern UI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344"/>
            <a:ext cx="18288000" cy="913977"/>
            <a:chOff x="0" y="0"/>
            <a:chExt cx="4816593" cy="2407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40718"/>
            </a:xfrm>
            <a:custGeom>
              <a:avLst/>
              <a:gdLst/>
              <a:ahLst/>
              <a:cxnLst/>
              <a:rect l="l" t="t" r="r" b="b"/>
              <a:pathLst>
                <a:path w="4816592" h="240718">
                  <a:moveTo>
                    <a:pt x="0" y="0"/>
                  </a:moveTo>
                  <a:lnTo>
                    <a:pt x="4816592" y="0"/>
                  </a:lnTo>
                  <a:lnTo>
                    <a:pt x="4816592" y="240718"/>
                  </a:lnTo>
                  <a:lnTo>
                    <a:pt x="0" y="240718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88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854867"/>
            <a:ext cx="18258239" cy="432133"/>
            <a:chOff x="0" y="0"/>
            <a:chExt cx="4808754" cy="1138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08754" cy="113813"/>
            </a:xfrm>
            <a:custGeom>
              <a:avLst/>
              <a:gdLst/>
              <a:ahLst/>
              <a:cxnLst/>
              <a:rect l="l" t="t" r="r" b="b"/>
              <a:pathLst>
                <a:path w="4808754" h="113813">
                  <a:moveTo>
                    <a:pt x="0" y="0"/>
                  </a:moveTo>
                  <a:lnTo>
                    <a:pt x="4808754" y="0"/>
                  </a:lnTo>
                  <a:lnTo>
                    <a:pt x="4808754" y="113813"/>
                  </a:lnTo>
                  <a:lnTo>
                    <a:pt x="0" y="113813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808754" cy="170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175645" y="9917358"/>
            <a:ext cx="1044990" cy="26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92865" y="116020"/>
            <a:ext cx="390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Technical Details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243115" y="4448594"/>
            <a:ext cx="7801769" cy="1592866"/>
            <a:chOff x="0" y="0"/>
            <a:chExt cx="9142044" cy="18665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2095" cy="1866519"/>
            </a:xfrm>
            <a:custGeom>
              <a:avLst/>
              <a:gdLst/>
              <a:ahLst/>
              <a:cxnLst/>
              <a:rect l="l" t="t" r="r" b="b"/>
              <a:pathLst>
                <a:path w="9142095" h="1866519">
                  <a:moveTo>
                    <a:pt x="0" y="0"/>
                  </a:moveTo>
                  <a:lnTo>
                    <a:pt x="9142095" y="0"/>
                  </a:lnTo>
                  <a:lnTo>
                    <a:pt x="9142095" y="1866519"/>
                  </a:lnTo>
                  <a:lnTo>
                    <a:pt x="0" y="1866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</a:blip>
              <a:stretch>
                <a:fillRect l="-3640" t="-91752" r="-7747" b="-115047"/>
              </a:stretch>
            </a:blipFill>
          </p:spPr>
        </p:sp>
      </p:grpSp>
      <p:pic>
        <p:nvPicPr>
          <p:cNvPr id="1038" name="Picture 14">
            <a:extLst>
              <a:ext uri="{FF2B5EF4-FFF2-40B4-BE49-F238E27FC236}">
                <a16:creationId xmlns:a16="http://schemas.microsoft.com/office/drawing/2014/main" id="{0E2378D0-5EB5-987B-DA3A-A60610032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8" t="14126" r="3996" b="12093"/>
          <a:stretch>
            <a:fillRect/>
          </a:stretch>
        </p:blipFill>
        <p:spPr bwMode="auto">
          <a:xfrm>
            <a:off x="10018297" y="5746851"/>
            <a:ext cx="7570392" cy="374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09B07766-6007-2409-3079-E5483EFAA7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7" t="9874" r="9571" b="19906"/>
          <a:stretch>
            <a:fillRect/>
          </a:stretch>
        </p:blipFill>
        <p:spPr bwMode="auto">
          <a:xfrm>
            <a:off x="9982200" y="1333500"/>
            <a:ext cx="7117264" cy="368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5699FE55-39F9-218D-5073-A3C3E93F8F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" t="11905" r="1926" b="13059"/>
          <a:stretch>
            <a:fillRect/>
          </a:stretch>
        </p:blipFill>
        <p:spPr bwMode="auto">
          <a:xfrm>
            <a:off x="937815" y="5751283"/>
            <a:ext cx="7596585" cy="388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4"/>
            <a:ext cx="18288000" cy="913977"/>
            <a:chOff x="0" y="0"/>
            <a:chExt cx="4816593" cy="24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40718"/>
            </a:xfrm>
            <a:custGeom>
              <a:avLst/>
              <a:gdLst/>
              <a:ahLst/>
              <a:cxnLst/>
              <a:rect l="l" t="t" r="r" b="b"/>
              <a:pathLst>
                <a:path w="4816592" h="240718">
                  <a:moveTo>
                    <a:pt x="0" y="0"/>
                  </a:moveTo>
                  <a:lnTo>
                    <a:pt x="4816592" y="0"/>
                  </a:lnTo>
                  <a:lnTo>
                    <a:pt x="4816592" y="240718"/>
                  </a:lnTo>
                  <a:lnTo>
                    <a:pt x="0" y="240718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88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854867"/>
            <a:ext cx="18258239" cy="432133"/>
            <a:chOff x="0" y="0"/>
            <a:chExt cx="4808754" cy="1138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08754" cy="113813"/>
            </a:xfrm>
            <a:custGeom>
              <a:avLst/>
              <a:gdLst/>
              <a:ahLst/>
              <a:cxnLst/>
              <a:rect l="l" t="t" r="r" b="b"/>
              <a:pathLst>
                <a:path w="4808754" h="113813">
                  <a:moveTo>
                    <a:pt x="0" y="0"/>
                  </a:moveTo>
                  <a:lnTo>
                    <a:pt x="4808754" y="0"/>
                  </a:lnTo>
                  <a:lnTo>
                    <a:pt x="4808754" y="113813"/>
                  </a:lnTo>
                  <a:lnTo>
                    <a:pt x="0" y="113813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08754" cy="170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175645" y="9917358"/>
            <a:ext cx="1044990" cy="26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45700" y="116020"/>
            <a:ext cx="499660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Feasibility &amp; Viability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243115" y="4448594"/>
            <a:ext cx="7801769" cy="1592866"/>
            <a:chOff x="0" y="0"/>
            <a:chExt cx="9142044" cy="18665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2095" cy="1866519"/>
            </a:xfrm>
            <a:custGeom>
              <a:avLst/>
              <a:gdLst/>
              <a:ahLst/>
              <a:cxnLst/>
              <a:rect l="l" t="t" r="r" b="b"/>
              <a:pathLst>
                <a:path w="9142095" h="1866519">
                  <a:moveTo>
                    <a:pt x="0" y="0"/>
                  </a:moveTo>
                  <a:lnTo>
                    <a:pt x="9142095" y="0"/>
                  </a:lnTo>
                  <a:lnTo>
                    <a:pt x="9142095" y="1866519"/>
                  </a:lnTo>
                  <a:lnTo>
                    <a:pt x="0" y="1866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</a:blip>
              <a:stretch>
                <a:fillRect l="-3640" t="-91752" r="-7747" b="-115047"/>
              </a:stretch>
            </a:blipFill>
          </p:spPr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F2A2584D-E765-55D2-A21A-F1404D8394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17" b="5693"/>
          <a:stretch>
            <a:fillRect/>
          </a:stretch>
        </p:blipFill>
        <p:spPr bwMode="auto">
          <a:xfrm>
            <a:off x="1114952" y="1393734"/>
            <a:ext cx="6867746" cy="390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A99A58A-DCD7-4AF8-BB17-728A28B0FC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5" t="16021" r="8729" b="9290"/>
          <a:stretch>
            <a:fillRect/>
          </a:stretch>
        </p:blipFill>
        <p:spPr bwMode="auto">
          <a:xfrm>
            <a:off x="10378737" y="2331345"/>
            <a:ext cx="7489403" cy="519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C52D1E2-6AED-EA41-7719-21438FC82F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" t="9566" r="3181" b="7941"/>
          <a:stretch>
            <a:fillRect/>
          </a:stretch>
        </p:blipFill>
        <p:spPr bwMode="auto">
          <a:xfrm>
            <a:off x="762000" y="5419946"/>
            <a:ext cx="9220198" cy="4331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4"/>
            <a:ext cx="18288000" cy="913977"/>
            <a:chOff x="0" y="0"/>
            <a:chExt cx="4816593" cy="24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40718"/>
            </a:xfrm>
            <a:custGeom>
              <a:avLst/>
              <a:gdLst/>
              <a:ahLst/>
              <a:cxnLst/>
              <a:rect l="l" t="t" r="r" b="b"/>
              <a:pathLst>
                <a:path w="4816592" h="240718">
                  <a:moveTo>
                    <a:pt x="0" y="0"/>
                  </a:moveTo>
                  <a:lnTo>
                    <a:pt x="4816592" y="0"/>
                  </a:lnTo>
                  <a:lnTo>
                    <a:pt x="4816592" y="240718"/>
                  </a:lnTo>
                  <a:lnTo>
                    <a:pt x="0" y="240718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88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854867"/>
            <a:ext cx="18258239" cy="432133"/>
            <a:chOff x="0" y="0"/>
            <a:chExt cx="4808754" cy="1138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08754" cy="113813"/>
            </a:xfrm>
            <a:custGeom>
              <a:avLst/>
              <a:gdLst/>
              <a:ahLst/>
              <a:cxnLst/>
              <a:rect l="l" t="t" r="r" b="b"/>
              <a:pathLst>
                <a:path w="4808754" h="113813">
                  <a:moveTo>
                    <a:pt x="0" y="0"/>
                  </a:moveTo>
                  <a:lnTo>
                    <a:pt x="4808754" y="0"/>
                  </a:lnTo>
                  <a:lnTo>
                    <a:pt x="4808754" y="113813"/>
                  </a:lnTo>
                  <a:lnTo>
                    <a:pt x="0" y="113813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08754" cy="170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43115" y="4448594"/>
            <a:ext cx="7801769" cy="1592866"/>
            <a:chOff x="0" y="0"/>
            <a:chExt cx="9142044" cy="18665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2095" cy="1866519"/>
            </a:xfrm>
            <a:custGeom>
              <a:avLst/>
              <a:gdLst/>
              <a:ahLst/>
              <a:cxnLst/>
              <a:rect l="l" t="t" r="r" b="b"/>
              <a:pathLst>
                <a:path w="9142095" h="1866519">
                  <a:moveTo>
                    <a:pt x="0" y="0"/>
                  </a:moveTo>
                  <a:lnTo>
                    <a:pt x="9142095" y="0"/>
                  </a:lnTo>
                  <a:lnTo>
                    <a:pt x="9142095" y="1866519"/>
                  </a:lnTo>
                  <a:lnTo>
                    <a:pt x="0" y="1866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</a:blip>
              <a:stretch>
                <a:fillRect l="-3640" t="-91752" r="-7747" b="-11504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166120" y="9917358"/>
            <a:ext cx="1044990" cy="26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200" y="1221497"/>
            <a:ext cx="16306800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Potential impact on the target audience:</a:t>
            </a:r>
            <a:br>
              <a:rPr lang="en-US" sz="2400" dirty="0"/>
            </a:br>
            <a:r>
              <a:rPr lang="en-US" sz="2400" dirty="0"/>
              <a:t>• </a:t>
            </a:r>
            <a:r>
              <a:rPr lang="en-US" sz="2400" b="1" dirty="0"/>
              <a:t>Students:</a:t>
            </a:r>
            <a:r>
              <a:rPr lang="en-US" sz="2400" dirty="0"/>
              <a:t> Faster complaint resolution, transparent tracking, better communication</a:t>
            </a:r>
            <a:br>
              <a:rPr lang="en-US" sz="2400" dirty="0"/>
            </a:br>
            <a:r>
              <a:rPr lang="en-US" sz="2400" dirty="0"/>
              <a:t>• </a:t>
            </a:r>
            <a:r>
              <a:rPr lang="en-US" sz="2400" b="1" dirty="0"/>
              <a:t>Wardens:</a:t>
            </a:r>
            <a:r>
              <a:rPr lang="en-US" sz="2400" dirty="0"/>
              <a:t> Efficient task management, performance monitoring, reduced paperwork</a:t>
            </a:r>
            <a:br>
              <a:rPr lang="en-US" sz="2400" dirty="0"/>
            </a:br>
            <a:r>
              <a:rPr lang="en-US" sz="2400" dirty="0"/>
              <a:t>• </a:t>
            </a:r>
            <a:r>
              <a:rPr lang="en-US" sz="2400" b="1" dirty="0"/>
              <a:t>Maintenance Staff:</a:t>
            </a:r>
            <a:r>
              <a:rPr lang="en-US" sz="2400" dirty="0"/>
              <a:t> Clear assignments, priority guidance, accountability tracking</a:t>
            </a:r>
            <a:br>
              <a:rPr lang="en-US" sz="2400" dirty="0"/>
            </a:br>
            <a:r>
              <a:rPr lang="en-US" sz="2400" dirty="0"/>
              <a:t>• </a:t>
            </a:r>
            <a:r>
              <a:rPr lang="en-US" sz="2400" b="1" dirty="0"/>
              <a:t>Hostel Administration:</a:t>
            </a:r>
            <a:r>
              <a:rPr lang="en-US" sz="2400" dirty="0"/>
              <a:t> Data-driven decisions, resource optimization, improved satisfaction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Social Benefits:</a:t>
            </a:r>
            <a:br>
              <a:rPr lang="en-US" sz="2400" dirty="0"/>
            </a:br>
            <a:r>
              <a:rPr lang="en-US" sz="2400" dirty="0"/>
              <a:t>• Improved student satisfaction and hostel living experience</a:t>
            </a:r>
            <a:br>
              <a:rPr lang="en-US" sz="2400" dirty="0"/>
            </a:br>
            <a:r>
              <a:rPr lang="en-US" sz="2400" dirty="0"/>
              <a:t>• Transparent communication reduces conflicts and misunderstandings</a:t>
            </a:r>
            <a:br>
              <a:rPr lang="en-US" sz="2400" dirty="0"/>
            </a:br>
            <a:r>
              <a:rPr lang="en-US" sz="2400" dirty="0"/>
              <a:t>• Efficient resource allocation benefits entire hostel community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Economic Benefits:</a:t>
            </a:r>
            <a:br>
              <a:rPr lang="en-US" sz="2400" dirty="0"/>
            </a:br>
            <a:r>
              <a:rPr lang="en-US" sz="2400" dirty="0"/>
              <a:t>• Reduces administrative overhead and paperwork costs</a:t>
            </a:r>
            <a:br>
              <a:rPr lang="en-US" sz="2400" dirty="0"/>
            </a:br>
            <a:r>
              <a:rPr lang="en-US" sz="2400" dirty="0"/>
              <a:t>• Minimizes maintenance delays preventing larger repair costs</a:t>
            </a:r>
            <a:br>
              <a:rPr lang="en-US" sz="2400" dirty="0"/>
            </a:br>
            <a:r>
              <a:rPr lang="en-US" sz="2400" dirty="0"/>
              <a:t>• Optimizes staff utilization through workload balancing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Operational Benefits:</a:t>
            </a:r>
            <a:br>
              <a:rPr lang="en-US" sz="2400" dirty="0"/>
            </a:br>
            <a:r>
              <a:rPr lang="en-US" sz="2400" dirty="0"/>
              <a:t>• Digital tracking eliminates lost complaint records</a:t>
            </a:r>
            <a:br>
              <a:rPr lang="en-US" sz="2400" dirty="0"/>
            </a:br>
            <a:r>
              <a:rPr lang="en-US" sz="2400" dirty="0"/>
              <a:t>• Analytics identify recurring issues for preventive maintenance</a:t>
            </a:r>
            <a:br>
              <a:rPr lang="en-US" sz="2400" dirty="0"/>
            </a:br>
            <a:r>
              <a:rPr lang="en-US" sz="2400" dirty="0"/>
              <a:t>• Standardized workflow ensures consistent service quality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Environmental Benefits:</a:t>
            </a:r>
            <a:br>
              <a:rPr lang="en-US" sz="2400" dirty="0"/>
            </a:br>
            <a:r>
              <a:rPr lang="en-US" sz="2400" dirty="0"/>
              <a:t>• Paperless system reduces environmental footprint</a:t>
            </a:r>
            <a:br>
              <a:rPr lang="en-US" sz="2400" dirty="0"/>
            </a:br>
            <a:r>
              <a:rPr lang="en-US" sz="2400" dirty="0"/>
              <a:t>• Efficient maintenance prevents resource wastage</a:t>
            </a:r>
            <a:br>
              <a:rPr lang="en-US" sz="2400" dirty="0"/>
            </a:br>
            <a:r>
              <a:rPr lang="en-US" sz="2400" dirty="0"/>
              <a:t>• Digital communication reduces physical travel needs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72696" y="116020"/>
            <a:ext cx="4276828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Impacts &amp;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4"/>
            <a:ext cx="18288000" cy="913977"/>
            <a:chOff x="0" y="0"/>
            <a:chExt cx="4816593" cy="24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40718"/>
            </a:xfrm>
            <a:custGeom>
              <a:avLst/>
              <a:gdLst/>
              <a:ahLst/>
              <a:cxnLst/>
              <a:rect l="l" t="t" r="r" b="b"/>
              <a:pathLst>
                <a:path w="4816592" h="240718">
                  <a:moveTo>
                    <a:pt x="0" y="0"/>
                  </a:moveTo>
                  <a:lnTo>
                    <a:pt x="4816592" y="0"/>
                  </a:lnTo>
                  <a:lnTo>
                    <a:pt x="4816592" y="240718"/>
                  </a:lnTo>
                  <a:lnTo>
                    <a:pt x="0" y="240718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88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854867"/>
            <a:ext cx="18258239" cy="432133"/>
            <a:chOff x="0" y="0"/>
            <a:chExt cx="4808754" cy="1138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08754" cy="113813"/>
            </a:xfrm>
            <a:custGeom>
              <a:avLst/>
              <a:gdLst/>
              <a:ahLst/>
              <a:cxnLst/>
              <a:rect l="l" t="t" r="r" b="b"/>
              <a:pathLst>
                <a:path w="4808754" h="113813">
                  <a:moveTo>
                    <a:pt x="0" y="0"/>
                  </a:moveTo>
                  <a:lnTo>
                    <a:pt x="4808754" y="0"/>
                  </a:lnTo>
                  <a:lnTo>
                    <a:pt x="4808754" y="113813"/>
                  </a:lnTo>
                  <a:lnTo>
                    <a:pt x="0" y="113813"/>
                  </a:lnTo>
                  <a:close/>
                </a:path>
              </a:pathLst>
            </a:custGeom>
            <a:solidFill>
              <a:srgbClr val="FFCC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08754" cy="170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43115" y="4448594"/>
            <a:ext cx="7801769" cy="1592866"/>
            <a:chOff x="0" y="0"/>
            <a:chExt cx="9142044" cy="18665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2095" cy="1866519"/>
            </a:xfrm>
            <a:custGeom>
              <a:avLst/>
              <a:gdLst/>
              <a:ahLst/>
              <a:cxnLst/>
              <a:rect l="l" t="t" r="r" b="b"/>
              <a:pathLst>
                <a:path w="9142095" h="1866519">
                  <a:moveTo>
                    <a:pt x="0" y="0"/>
                  </a:moveTo>
                  <a:lnTo>
                    <a:pt x="9142095" y="0"/>
                  </a:lnTo>
                  <a:lnTo>
                    <a:pt x="9142095" y="1866519"/>
                  </a:lnTo>
                  <a:lnTo>
                    <a:pt x="0" y="1866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</a:blip>
              <a:stretch>
                <a:fillRect l="-3640" t="-91752" r="-7747" b="-11504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175645" y="9917358"/>
            <a:ext cx="1044990" cy="26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Page 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1136033"/>
            <a:ext cx="16002000" cy="818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Details / Links of the reference and research work : </a:t>
            </a:r>
          </a:p>
          <a:p>
            <a:pPr marL="259080" lvl="1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action="ppaction://hlinkpres?slideindex=1&amp;slidetitle="/>
              </a:rPr>
              <a:t>https://chat.deepseek.com/share/8nov6gp2idrc1egchs</a:t>
            </a:r>
            <a:endParaRPr lang="en-US" sz="2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8160" lvl="1" indent="-25908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Links : </a:t>
            </a:r>
          </a:p>
          <a:p>
            <a:pPr marL="259080" lvl="1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action="ppaction://hlinkpres?slideindex=1&amp;slidetitle="/>
              </a:rPr>
              <a:t>https://www.figma.com/make/N3xdwPdoQf56K4ZNjmfk06/Hostel-Complaint-Management-System?t=8ietC087AsHb4uy9-1</a:t>
            </a:r>
            <a:endParaRPr lang="en-US" sz="2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endParaRPr lang="en-IN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Research &amp; References: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Competitive Analysis:</a:t>
            </a:r>
            <a:r>
              <a:rPr lang="en-IN" sz="2000" dirty="0"/>
              <a:t> Studied existing hostel management software and their limitations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/>
              <a:t>Best Practices:</a:t>
            </a:r>
            <a:r>
              <a:rPr lang="en-IN" sz="2000" dirty="0"/>
              <a:t> Applied Material Design principles and accessibility guidelines (WCAG 2.1)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Technical References:</a:t>
            </a:r>
            <a:endParaRPr lang="en-IN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MDN Web Docs for </a:t>
            </a:r>
            <a:r>
              <a:rPr lang="en-IN" sz="2000" dirty="0" err="1"/>
              <a:t>LocalStorage</a:t>
            </a:r>
            <a:r>
              <a:rPr lang="en-IN" sz="2000" dirty="0"/>
              <a:t> implementation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Chart.js documentation for analytics visualization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Font Awesome for icon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Industry Standards:</a:t>
            </a:r>
            <a:r>
              <a:rPr lang="en-IN" sz="2000" dirty="0"/>
              <a:t> Followed ITIL framework for incident management workflows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Future Enhancements: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Mobile application with push notifications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AI-powered complaint categorization and routing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Predictive maintenance scheduling based on analytics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Integration with IoT sensors for automated issue detection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Multi-language support for diverse student populations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Deployment Plan: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Phase 1: Basic complaint tracking system (Current Implementation)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Phase 2: Mobile app with push notifications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Phase 3: IoT integration for automated maintenance requests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Phase 4: Predictive analytics for preventive maintenance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7825" y="116020"/>
            <a:ext cx="522562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Research &amp;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933</Words>
  <Application>Microsoft Office PowerPoint</Application>
  <PresentationFormat>Custom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Wingdings</vt:lpstr>
      <vt:lpstr>Droid Serif Bold</vt:lpstr>
      <vt:lpstr>Droid Serif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Hackathon_Template</dc:title>
  <cp:lastModifiedBy>aakshaydhoke2006@gmail.com</cp:lastModifiedBy>
  <cp:revision>3</cp:revision>
  <dcterms:created xsi:type="dcterms:W3CDTF">2006-08-16T00:00:00Z</dcterms:created>
  <dcterms:modified xsi:type="dcterms:W3CDTF">2026-02-01T05:56:33Z</dcterms:modified>
  <dc:identifier>DAG1sbGYN9E</dc:identifier>
</cp:coreProperties>
</file>